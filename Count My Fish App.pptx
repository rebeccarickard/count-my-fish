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7DA6"/>
    <a:srgbClr val="7589A7"/>
    <a:srgbClr val="0F9575"/>
    <a:srgbClr val="20E8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77794C-F5C5-4407-97A6-8E755005E9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F775AF-A392-41C0-A88A-9A5C81AB5B9A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/>
            <a:t>SQLite (prototype only)</a:t>
          </a:r>
        </a:p>
      </dgm:t>
    </dgm:pt>
    <dgm:pt modelId="{676B5CA8-16C1-40DB-8341-EA51813EB043}" type="parTrans" cxnId="{0699436E-27AB-4CD8-AA0B-11A45F6C7186}">
      <dgm:prSet/>
      <dgm:spPr/>
      <dgm:t>
        <a:bodyPr/>
        <a:lstStyle/>
        <a:p>
          <a:endParaRPr lang="en-US"/>
        </a:p>
      </dgm:t>
    </dgm:pt>
    <dgm:pt modelId="{7C45F2A8-EA6E-433C-A832-D25A74723772}" type="sibTrans" cxnId="{0699436E-27AB-4CD8-AA0B-11A45F6C7186}">
      <dgm:prSet/>
      <dgm:spPr/>
      <dgm:t>
        <a:bodyPr/>
        <a:lstStyle/>
        <a:p>
          <a:endParaRPr lang="en-US"/>
        </a:p>
      </dgm:t>
    </dgm:pt>
    <dgm:pt modelId="{1F75EDD0-A0BA-462A-BA41-DA9A9FAA184D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/>
            <a:t>Limited dataset currently</a:t>
          </a:r>
        </a:p>
      </dgm:t>
    </dgm:pt>
    <dgm:pt modelId="{F4A8EA87-B3F3-4417-9647-AB01D5B2851A}" type="parTrans" cxnId="{D110B745-7E49-4A47-B79C-D76C20D8EE90}">
      <dgm:prSet/>
      <dgm:spPr/>
      <dgm:t>
        <a:bodyPr/>
        <a:lstStyle/>
        <a:p>
          <a:endParaRPr lang="en-US"/>
        </a:p>
      </dgm:t>
    </dgm:pt>
    <dgm:pt modelId="{F133DE67-13A3-472E-BD10-8B74826E6CC3}" type="sibTrans" cxnId="{D110B745-7E49-4A47-B79C-D76C20D8EE90}">
      <dgm:prSet/>
      <dgm:spPr/>
      <dgm:t>
        <a:bodyPr/>
        <a:lstStyle/>
        <a:p>
          <a:endParaRPr lang="en-US"/>
        </a:p>
      </dgm:t>
    </dgm:pt>
    <dgm:pt modelId="{CAF714AB-3CEB-4E89-B3F7-07627083CFEF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/>
            <a:t>Requires user adoption</a:t>
          </a:r>
        </a:p>
      </dgm:t>
    </dgm:pt>
    <dgm:pt modelId="{CFB6DAF1-D347-449E-AC5B-D286C3112EE9}" type="parTrans" cxnId="{D57420A9-F3C3-4793-9A61-59342E3BD0FA}">
      <dgm:prSet/>
      <dgm:spPr/>
      <dgm:t>
        <a:bodyPr/>
        <a:lstStyle/>
        <a:p>
          <a:endParaRPr lang="en-US"/>
        </a:p>
      </dgm:t>
    </dgm:pt>
    <dgm:pt modelId="{5378A123-938D-418E-9CCA-1E171049A757}" type="sibTrans" cxnId="{D57420A9-F3C3-4793-9A61-59342E3BD0FA}">
      <dgm:prSet/>
      <dgm:spPr/>
      <dgm:t>
        <a:bodyPr/>
        <a:lstStyle/>
        <a:p>
          <a:endParaRPr lang="en-US"/>
        </a:p>
      </dgm:t>
    </dgm:pt>
    <dgm:pt modelId="{041FC405-E669-451D-939B-A8133741C9D3}" type="pres">
      <dgm:prSet presAssocID="{E477794C-F5C5-4407-97A6-8E755005E907}" presName="linear" presStyleCnt="0">
        <dgm:presLayoutVars>
          <dgm:animLvl val="lvl"/>
          <dgm:resizeHandles val="exact"/>
        </dgm:presLayoutVars>
      </dgm:prSet>
      <dgm:spPr/>
    </dgm:pt>
    <dgm:pt modelId="{4930EB1C-4053-4F50-9D7D-9F98EDE3B713}" type="pres">
      <dgm:prSet presAssocID="{2DF775AF-A392-41C0-A88A-9A5C81AB5B9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4E7E30B-A734-4849-A553-69A8C6C51953}" type="pres">
      <dgm:prSet presAssocID="{7C45F2A8-EA6E-433C-A832-D25A74723772}" presName="spacer" presStyleCnt="0"/>
      <dgm:spPr/>
    </dgm:pt>
    <dgm:pt modelId="{4F7BCE97-1500-4BA2-B208-3F50C62C9FBA}" type="pres">
      <dgm:prSet presAssocID="{1F75EDD0-A0BA-462A-BA41-DA9A9FAA184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D2D3E53-3876-4C57-9576-55BB0D3BD366}" type="pres">
      <dgm:prSet presAssocID="{F133DE67-13A3-472E-BD10-8B74826E6CC3}" presName="spacer" presStyleCnt="0"/>
      <dgm:spPr/>
    </dgm:pt>
    <dgm:pt modelId="{7EF1F7D5-EC76-4329-BC4D-D31B3E53EA72}" type="pres">
      <dgm:prSet presAssocID="{CAF714AB-3CEB-4E89-B3F7-07627083CFE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7DE9732-4F3C-4556-8FC2-64D864D033BA}" type="presOf" srcId="{2DF775AF-A392-41C0-A88A-9A5C81AB5B9A}" destId="{4930EB1C-4053-4F50-9D7D-9F98EDE3B713}" srcOrd="0" destOrd="0" presId="urn:microsoft.com/office/officeart/2005/8/layout/vList2"/>
    <dgm:cxn modelId="{D110B745-7E49-4A47-B79C-D76C20D8EE90}" srcId="{E477794C-F5C5-4407-97A6-8E755005E907}" destId="{1F75EDD0-A0BA-462A-BA41-DA9A9FAA184D}" srcOrd="1" destOrd="0" parTransId="{F4A8EA87-B3F3-4417-9647-AB01D5B2851A}" sibTransId="{F133DE67-13A3-472E-BD10-8B74826E6CC3}"/>
    <dgm:cxn modelId="{0699436E-27AB-4CD8-AA0B-11A45F6C7186}" srcId="{E477794C-F5C5-4407-97A6-8E755005E907}" destId="{2DF775AF-A392-41C0-A88A-9A5C81AB5B9A}" srcOrd="0" destOrd="0" parTransId="{676B5CA8-16C1-40DB-8341-EA51813EB043}" sibTransId="{7C45F2A8-EA6E-433C-A832-D25A74723772}"/>
    <dgm:cxn modelId="{810ABA81-9054-4720-A913-0E84A3821097}" type="presOf" srcId="{E477794C-F5C5-4407-97A6-8E755005E907}" destId="{041FC405-E669-451D-939B-A8133741C9D3}" srcOrd="0" destOrd="0" presId="urn:microsoft.com/office/officeart/2005/8/layout/vList2"/>
    <dgm:cxn modelId="{D57420A9-F3C3-4793-9A61-59342E3BD0FA}" srcId="{E477794C-F5C5-4407-97A6-8E755005E907}" destId="{CAF714AB-3CEB-4E89-B3F7-07627083CFEF}" srcOrd="2" destOrd="0" parTransId="{CFB6DAF1-D347-449E-AC5B-D286C3112EE9}" sibTransId="{5378A123-938D-418E-9CCA-1E171049A757}"/>
    <dgm:cxn modelId="{24145BB5-8A58-4A95-8C83-4315A9DCEA56}" type="presOf" srcId="{1F75EDD0-A0BA-462A-BA41-DA9A9FAA184D}" destId="{4F7BCE97-1500-4BA2-B208-3F50C62C9FBA}" srcOrd="0" destOrd="0" presId="urn:microsoft.com/office/officeart/2005/8/layout/vList2"/>
    <dgm:cxn modelId="{BC26E4D7-2ABA-4A31-B3BB-10A59B749D7F}" type="presOf" srcId="{CAF714AB-3CEB-4E89-B3F7-07627083CFEF}" destId="{7EF1F7D5-EC76-4329-BC4D-D31B3E53EA72}" srcOrd="0" destOrd="0" presId="urn:microsoft.com/office/officeart/2005/8/layout/vList2"/>
    <dgm:cxn modelId="{BBBAA998-31D1-4BDB-8E0D-0405E446B9C6}" type="presParOf" srcId="{041FC405-E669-451D-939B-A8133741C9D3}" destId="{4930EB1C-4053-4F50-9D7D-9F98EDE3B713}" srcOrd="0" destOrd="0" presId="urn:microsoft.com/office/officeart/2005/8/layout/vList2"/>
    <dgm:cxn modelId="{1BDC8129-36A0-4556-A40D-18788CACD6F9}" type="presParOf" srcId="{041FC405-E669-451D-939B-A8133741C9D3}" destId="{C4E7E30B-A734-4849-A553-69A8C6C51953}" srcOrd="1" destOrd="0" presId="urn:microsoft.com/office/officeart/2005/8/layout/vList2"/>
    <dgm:cxn modelId="{6ABE8A41-089E-486E-B794-B4D32A1DA6C7}" type="presParOf" srcId="{041FC405-E669-451D-939B-A8133741C9D3}" destId="{4F7BCE97-1500-4BA2-B208-3F50C62C9FBA}" srcOrd="2" destOrd="0" presId="urn:microsoft.com/office/officeart/2005/8/layout/vList2"/>
    <dgm:cxn modelId="{E2C16353-EBB6-40A6-BA52-0ABDC805CF39}" type="presParOf" srcId="{041FC405-E669-451D-939B-A8133741C9D3}" destId="{DD2D3E53-3876-4C57-9576-55BB0D3BD366}" srcOrd="3" destOrd="0" presId="urn:microsoft.com/office/officeart/2005/8/layout/vList2"/>
    <dgm:cxn modelId="{DF1B5940-2740-45E0-ACE8-10A62DE5E564}" type="presParOf" srcId="{041FC405-E669-451D-939B-A8133741C9D3}" destId="{7EF1F7D5-EC76-4329-BC4D-D31B3E53EA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30EB1C-4053-4F50-9D7D-9F98EDE3B713}">
      <dsp:nvSpPr>
        <dsp:cNvPr id="0" name=""/>
        <dsp:cNvSpPr/>
      </dsp:nvSpPr>
      <dsp:spPr>
        <a:xfrm>
          <a:off x="0" y="7213"/>
          <a:ext cx="8288215" cy="935415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SQLite (prototype only)</a:t>
          </a:r>
        </a:p>
      </dsp:txBody>
      <dsp:txXfrm>
        <a:off x="45663" y="52876"/>
        <a:ext cx="8196889" cy="844089"/>
      </dsp:txXfrm>
    </dsp:sp>
    <dsp:sp modelId="{4F7BCE97-1500-4BA2-B208-3F50C62C9FBA}">
      <dsp:nvSpPr>
        <dsp:cNvPr id="0" name=""/>
        <dsp:cNvSpPr/>
      </dsp:nvSpPr>
      <dsp:spPr>
        <a:xfrm>
          <a:off x="0" y="1054949"/>
          <a:ext cx="8288215" cy="935415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Limited dataset currently</a:t>
          </a:r>
        </a:p>
      </dsp:txBody>
      <dsp:txXfrm>
        <a:off x="45663" y="1100612"/>
        <a:ext cx="8196889" cy="844089"/>
      </dsp:txXfrm>
    </dsp:sp>
    <dsp:sp modelId="{7EF1F7D5-EC76-4329-BC4D-D31B3E53EA72}">
      <dsp:nvSpPr>
        <dsp:cNvPr id="0" name=""/>
        <dsp:cNvSpPr/>
      </dsp:nvSpPr>
      <dsp:spPr>
        <a:xfrm>
          <a:off x="0" y="2102684"/>
          <a:ext cx="8288215" cy="935415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Requires user adoption</a:t>
          </a:r>
        </a:p>
      </dsp:txBody>
      <dsp:txXfrm>
        <a:off x="45663" y="2148347"/>
        <a:ext cx="8196889" cy="84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7D57-6C27-F2D3-53CF-783C6387A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06AA-5048-1126-FD5D-BB166EDBC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62C00-3461-9E00-0FC2-7B4050DF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B134E-BE39-BDC9-74BA-61195D12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7672A-F41E-E62B-7561-A1937C1B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9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097F-E756-B7F6-A7BA-870A5868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78096-7930-F7A4-BDF1-ADEEDFF22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33EA4-1421-C0AE-870C-87AD434DF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562A-14DB-24AD-2563-DE4ABD673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8E6BF-1238-4635-A32A-378A45C2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1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CF2D-3383-575E-DEE4-307A5329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E2482-023D-1506-C43F-D258746EC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B40E2-3022-EA4E-7ACD-AF5A119D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3C85-2232-F796-6480-2F624A64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0481E-6A6C-D53C-5BB3-6C33FDF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3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3304-6D39-8083-BF9B-8A26D0A5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84E41-2D6C-F556-2A9E-B6C18101A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8E266-B628-8C9D-7A5C-466CA17E7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71739D-6D7E-6888-0EAE-527F46A90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F11A4-C13F-E56B-2971-436DA1DA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23139-DD2F-EEE8-445F-E67679BB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5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5531-CECB-8671-C8BA-25EAD51E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83149-1E13-765F-E6B8-90BD8D7DC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BF8C2-55AA-69C4-4715-AD57AF364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91F309-5404-C8D9-7837-D2E658E24E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303F3-673E-F75F-E2ED-5D2908003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4A6AC5-66D8-F400-E7E5-3149E32F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60E669-8D16-AE0A-5B2B-7826C2F4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AD5405-5778-05C4-59BB-5D1E57419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4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7230-7514-1D70-58D6-9677C9820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FBD26-828B-0483-2C20-837075DD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F8802-9EE4-A7DC-3502-407FEE66F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56BAD-E917-199B-D999-F0C3E2097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4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66841-EFCA-4E23-F350-DCA411EF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2465C-A868-1BE0-5A11-D196D2E63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A2892-73AB-CD41-E11C-90B733F0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25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0ACEB-D81C-092B-7D3F-C50D3D1A8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0B120-345E-61C4-7D9E-462911F02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F28309-3ADF-7EDE-0930-02CDD86EF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31883-D4D2-5BB2-765D-5448B2CF3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ACCE2-FF77-27D5-9854-A3462FBDB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6C965-0A5F-A652-4222-C8330968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89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2F424-CC17-4AFE-6ECB-B19B10AC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E6ABB5-B216-8FE6-5FAF-EE9B734CE1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8AFCA3-4BB5-34FC-9EA8-825938760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55117-8C57-2B1A-F92B-C207C738C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D5853-8B87-3CD4-A2CB-7187BFD8B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A49F05-932B-786D-4461-60A8C59C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87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BD9A-FF3B-03AE-3D83-57CAC12B4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05ED2-0E4A-88E8-F6AE-0AB119232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73C78-689A-A746-F593-4D8F4C16F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AB0CF-DF02-B4F3-9655-1EC8EC62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67C03-9CB1-ED36-3707-48B565F3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2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B416E-DEB0-E3B8-2E28-FEC42049A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B6A6D-AFD2-6D7C-E021-EF0689784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E2867-5DA7-171C-E691-FE0D2F3C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899A5-8139-88B8-2B86-03733FF0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07F4E-33C9-E259-7C47-502D695F0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9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7665CF-F2E6-2F92-981F-ABED5D2D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BF8E4-B8EB-BB62-F0E3-8548AEC9B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89A47-AB22-AC65-C108-52F0349200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F0197-DD48-4EED-87FE-5EDD09BCD438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5769C-1516-2D63-223C-C65D21D1D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7EE01-9E34-F4C0-3519-163C92466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091D0-0BFD-44B2-9AE3-3581EB2B43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unt-my-fish-nc.streamlit.app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B2E69-4D37-63C9-B629-7CF28B30A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7200" dirty="0">
                <a:solidFill>
                  <a:srgbClr val="FFFFFF"/>
                </a:solidFill>
                <a:latin typeface="Kermit Extrabold" panose="020F0502020204030204" pitchFamily="34" charset="0"/>
              </a:rPr>
              <a:t>Count My Fish App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2E08E-9335-0CDE-AFE4-6A054C98E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Presented by: Rebecca Rickard</a:t>
            </a:r>
          </a:p>
        </p:txBody>
      </p:sp>
    </p:spTree>
    <p:extLst>
      <p:ext uri="{BB962C8B-B14F-4D97-AF65-F5344CB8AC3E}">
        <p14:creationId xmlns:p14="http://schemas.microsoft.com/office/powerpoint/2010/main" val="4187828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AE78-0F3E-46F1-A626-89C145C4E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F4DDF-3A56-A422-A3F7-4BF121E33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7108" y="1825625"/>
            <a:ext cx="5855677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Current Challenges: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  <a:latin typeface="Kermit Semibold Expanded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Limited real-time fishing data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Manual/delayed reporting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Low angler engagement in data collection 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Hard to predict fishing conditions</a:t>
            </a:r>
          </a:p>
        </p:txBody>
      </p:sp>
      <p:pic>
        <p:nvPicPr>
          <p:cNvPr id="1026" name="Picture 2" descr="A generated image">
            <a:extLst>
              <a:ext uri="{FF2B5EF4-FFF2-40B4-BE49-F238E27FC236}">
                <a16:creationId xmlns:a16="http://schemas.microsoft.com/office/drawing/2014/main" id="{02696490-72D2-E4D4-7F48-8D8AACD2D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195" y="2508653"/>
            <a:ext cx="2623497" cy="2494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65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276B-677C-0EE2-E0C9-7269CBBD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5A42C-23E2-204C-C237-550AB06C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The Opportunity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1A776-5F77-497E-CA8F-B16795E70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33284" y="2157224"/>
            <a:ext cx="6684640" cy="3697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Kermit Semibold Expanded" panose="020F0503040000060003" pitchFamily="34" charset="0"/>
              </a:rPr>
              <a:t>What if anglers became data collectors?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  <a:latin typeface="Kermit Semibold Expanded" panose="020F0503040000060003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Real-time catch data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Environmental and behavioral insights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Better decision making for anglers and fisheries</a:t>
            </a:r>
          </a:p>
        </p:txBody>
      </p:sp>
      <p:pic>
        <p:nvPicPr>
          <p:cNvPr id="2050" name="Picture 2" descr="A generated image">
            <a:extLst>
              <a:ext uri="{FF2B5EF4-FFF2-40B4-BE49-F238E27FC236}">
                <a16:creationId xmlns:a16="http://schemas.microsoft.com/office/drawing/2014/main" id="{1BDB2891-E1F8-5CC0-8C68-A66E14533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54" y="1815465"/>
            <a:ext cx="4070447" cy="4380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59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4262E-A1AB-E3FA-D393-7445F7E0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42097-2EBE-289F-0E63-7BA291C3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4EAA-090B-AA3E-391F-355E99613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Kermit Semibold Expanded" panose="020F0503040000060003" pitchFamily="34" charset="0"/>
              </a:rPr>
              <a:t>Introducing: Count My Fish App</a:t>
            </a:r>
          </a:p>
          <a:p>
            <a:pPr marL="0" indent="0" algn="ctr">
              <a:buNone/>
            </a:pPr>
            <a:r>
              <a:rPr lang="en-US" i="1" dirty="0" err="1">
                <a:solidFill>
                  <a:schemeClr val="bg1"/>
                </a:solidFill>
                <a:latin typeface="Arial Nova Cond" panose="020B0506020202020204" pitchFamily="34" charset="0"/>
              </a:rPr>
              <a:t>Streamlit</a:t>
            </a:r>
            <a:r>
              <a:rPr lang="en-US" i="1" dirty="0">
                <a:solidFill>
                  <a:schemeClr val="bg1"/>
                </a:solidFill>
                <a:latin typeface="Arial Nova Cond" panose="020B0506020202020204" pitchFamily="34" charset="0"/>
              </a:rPr>
              <a:t>-based interactive app</a:t>
            </a: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Tracks catches, conditions, and locations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Provides fishing success predictions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Engages users through challenges and leaderboards</a:t>
            </a:r>
          </a:p>
        </p:txBody>
      </p:sp>
    </p:spTree>
    <p:extLst>
      <p:ext uri="{BB962C8B-B14F-4D97-AF65-F5344CB8AC3E}">
        <p14:creationId xmlns:p14="http://schemas.microsoft.com/office/powerpoint/2010/main" val="34980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11B5-BE58-BFE0-56DB-AA215179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D1AF-8081-CB66-F7C0-5567C206C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DD61B-6630-DBCA-9334-4BE4BE5DE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117" y="1825625"/>
            <a:ext cx="5730124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Fishing score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Catch logging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Interactive map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Challenges and achievements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Agency reporting dashboard</a:t>
            </a:r>
          </a:p>
        </p:txBody>
      </p:sp>
      <p:pic>
        <p:nvPicPr>
          <p:cNvPr id="3076" name="Picture 4" descr="A generated image">
            <a:extLst>
              <a:ext uri="{FF2B5EF4-FFF2-40B4-BE49-F238E27FC236}">
                <a16:creationId xmlns:a16="http://schemas.microsoft.com/office/drawing/2014/main" id="{5DD49444-66B1-7102-6FE1-1A1673C31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271" y="1756728"/>
            <a:ext cx="3554612" cy="356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09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4E612-1E57-45BF-2146-15A9CDC2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EB52-15C7-CC47-20C0-01771A4D7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Fishing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08F08-34F5-760A-737C-79E2B84EB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1440" y="1825625"/>
            <a:ext cx="6182359" cy="435133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Uses environmental and user inputs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Predicts likelihood of success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Built with: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Logistic Regression/Random Forest/ </a:t>
            </a:r>
            <a:r>
              <a:rPr lang="en-US" dirty="0" err="1">
                <a:solidFill>
                  <a:schemeClr val="bg1"/>
                </a:solidFill>
                <a:latin typeface="Arial Nova Cond" panose="020B0506020202020204" pitchFamily="34" charset="0"/>
              </a:rPr>
              <a:t>XGBoost</a:t>
            </a:r>
            <a:endParaRPr lang="en-US" dirty="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4098" name="Picture 2" descr="A generated image">
            <a:extLst>
              <a:ext uri="{FF2B5EF4-FFF2-40B4-BE49-F238E27FC236}">
                <a16:creationId xmlns:a16="http://schemas.microsoft.com/office/drawing/2014/main" id="{18CDCB72-DE8E-6A93-19C9-5F92ED821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015" y="1825625"/>
            <a:ext cx="3230654" cy="333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008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697A-AAF6-398E-0537-A8D39988C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4B34-0E31-EF77-CB10-7161DB1B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Data Collected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82A5-27CA-DA77-B9BC-C38411BD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2508" y="1822450"/>
            <a:ext cx="417048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Species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Fish length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Location (GPS or user input)</a:t>
            </a:r>
          </a:p>
        </p:txBody>
      </p:sp>
      <p:pic>
        <p:nvPicPr>
          <p:cNvPr id="5122" name="Picture 2" descr="A generated image">
            <a:extLst>
              <a:ext uri="{FF2B5EF4-FFF2-40B4-BE49-F238E27FC236}">
                <a16:creationId xmlns:a16="http://schemas.microsoft.com/office/drawing/2014/main" id="{4DCB4EB4-D1C1-01D6-66A4-A361F57538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00" t="43553" b="15419"/>
          <a:stretch>
            <a:fillRect/>
          </a:stretch>
        </p:blipFill>
        <p:spPr bwMode="auto">
          <a:xfrm>
            <a:off x="6566836" y="3865360"/>
            <a:ext cx="728864" cy="84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32E761-11BF-ECC8-7FED-C55A25F109C4}"/>
              </a:ext>
            </a:extLst>
          </p:cNvPr>
          <p:cNvSpPr txBox="1">
            <a:spLocks/>
          </p:cNvSpPr>
          <p:nvPr/>
        </p:nvSpPr>
        <p:spPr>
          <a:xfrm>
            <a:off x="7299647" y="1822450"/>
            <a:ext cx="405415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Bait and technique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Time of day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Arial Nova Cond" panose="020B0506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Weather and tide conditions</a:t>
            </a:r>
          </a:p>
        </p:txBody>
      </p:sp>
      <p:pic>
        <p:nvPicPr>
          <p:cNvPr id="10" name="Picture 2" descr="A generated image">
            <a:extLst>
              <a:ext uri="{FF2B5EF4-FFF2-40B4-BE49-F238E27FC236}">
                <a16:creationId xmlns:a16="http://schemas.microsoft.com/office/drawing/2014/main" id="{4E36D64F-B47C-6DFD-AA2D-B99E10BAC2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14" t="40171" r="32050" b="19557"/>
          <a:stretch>
            <a:fillRect/>
          </a:stretch>
        </p:blipFill>
        <p:spPr bwMode="auto">
          <a:xfrm>
            <a:off x="6581491" y="2619988"/>
            <a:ext cx="853988" cy="82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A generated image">
            <a:extLst>
              <a:ext uri="{FF2B5EF4-FFF2-40B4-BE49-F238E27FC236}">
                <a16:creationId xmlns:a16="http://schemas.microsoft.com/office/drawing/2014/main" id="{AC83DBC7-B186-1585-1CEC-D551BB9DBC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22" r="64264" b="15506"/>
          <a:stretch>
            <a:fillRect/>
          </a:stretch>
        </p:blipFill>
        <p:spPr bwMode="auto">
          <a:xfrm>
            <a:off x="6674377" y="1742099"/>
            <a:ext cx="853989" cy="826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A generated image">
            <a:extLst>
              <a:ext uri="{FF2B5EF4-FFF2-40B4-BE49-F238E27FC236}">
                <a16:creationId xmlns:a16="http://schemas.microsoft.com/office/drawing/2014/main" id="{88B15A3D-8677-3C6C-BF5A-AB0D32D28D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22" b="59728"/>
          <a:stretch>
            <a:fillRect/>
          </a:stretch>
        </p:blipFill>
        <p:spPr bwMode="auto">
          <a:xfrm>
            <a:off x="1674364" y="3891833"/>
            <a:ext cx="678144" cy="82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A generated image">
            <a:extLst>
              <a:ext uri="{FF2B5EF4-FFF2-40B4-BE49-F238E27FC236}">
                <a16:creationId xmlns:a16="http://schemas.microsoft.com/office/drawing/2014/main" id="{66FD3E68-CF3A-042E-82B7-C9C8BF743D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25" r="29839" b="59728"/>
          <a:stretch>
            <a:fillRect/>
          </a:stretch>
        </p:blipFill>
        <p:spPr bwMode="auto">
          <a:xfrm>
            <a:off x="1549806" y="2802867"/>
            <a:ext cx="853988" cy="82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A generated image">
            <a:extLst>
              <a:ext uri="{FF2B5EF4-FFF2-40B4-BE49-F238E27FC236}">
                <a16:creationId xmlns:a16="http://schemas.microsoft.com/office/drawing/2014/main" id="{69023EE0-1C42-1FD0-BBD6-7E86504E8C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64" b="59728"/>
          <a:stretch>
            <a:fillRect/>
          </a:stretch>
        </p:blipFill>
        <p:spPr bwMode="auto">
          <a:xfrm>
            <a:off x="1498520" y="1713901"/>
            <a:ext cx="853988" cy="82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3657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D6D33-8B34-2DF9-C497-33FD491C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generated image">
            <a:extLst>
              <a:ext uri="{FF2B5EF4-FFF2-40B4-BE49-F238E27FC236}">
                <a16:creationId xmlns:a16="http://schemas.microsoft.com/office/drawing/2014/main" id="{42853EC9-7DB5-1297-FECE-6B44DCF84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680" y="228599"/>
            <a:ext cx="5882640" cy="596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3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FC472-7CA0-103E-9575-841652B21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5A01-C90A-28BA-A757-44875648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User Engagement Strategy</a:t>
            </a:r>
          </a:p>
        </p:txBody>
      </p:sp>
      <p:pic>
        <p:nvPicPr>
          <p:cNvPr id="7172" name="Picture 4" descr="A generated image">
            <a:extLst>
              <a:ext uri="{FF2B5EF4-FFF2-40B4-BE49-F238E27FC236}">
                <a16:creationId xmlns:a16="http://schemas.microsoft.com/office/drawing/2014/main" id="{6682E234-AF5D-F371-B5B2-DC788CD2F9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2"/>
          <a:stretch>
            <a:fillRect/>
          </a:stretch>
        </p:blipFill>
        <p:spPr bwMode="auto">
          <a:xfrm>
            <a:off x="3791505" y="1584960"/>
            <a:ext cx="4608989" cy="419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013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30E07-5C42-D8B0-9C00-51EFFE9D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C7B2-6C36-B2EC-0D11-D436A0B7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Agency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A483F-3FB7-5604-CE9F-226D7D121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How this helps NC Division of Marine Fisheries: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Real-time catch data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Better stock monitoring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Behavioral insights (bait, technique, timing)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Regional fishing patterns</a:t>
            </a:r>
          </a:p>
          <a:p>
            <a:pPr algn="ctr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Predictive analytics potential</a:t>
            </a:r>
          </a:p>
        </p:txBody>
      </p:sp>
    </p:spTree>
    <p:extLst>
      <p:ext uri="{BB962C8B-B14F-4D97-AF65-F5344CB8AC3E}">
        <p14:creationId xmlns:p14="http://schemas.microsoft.com/office/powerpoint/2010/main" val="1903464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88A19-6B47-884C-47AA-7F8292B0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10DB-FDA3-65FA-AD8F-2CD08C95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Limitations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211101-33A3-8290-8EF1-9173322337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181028"/>
              </p:ext>
            </p:extLst>
          </p:nvPr>
        </p:nvGraphicFramePr>
        <p:xfrm>
          <a:off x="2209800" y="2080602"/>
          <a:ext cx="8288215" cy="3045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022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0468-731A-B6B6-1C37-FAB5E960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CF6B-5AC6-459C-6907-9DA7B62C5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21353-C90F-7302-15A9-38744ACB2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Transition to PostgreSQL/cloud database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Integration with official Division of Marine Fisheries data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Automated regulation updates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Mobile app version and advanced app re-platforming for a production-grade UI 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Enhanced and expanded predictive modeling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Expanded species coverage for broader monitoring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Including tracking and monitoring invasive species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Agency Harvest Report private only to NC Division of Marine Fisheries and other state agencies</a:t>
            </a:r>
          </a:p>
          <a:p>
            <a:pPr lvl="1"/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Shown in app only for demonstrative purposes</a:t>
            </a:r>
          </a:p>
        </p:txBody>
      </p:sp>
    </p:spTree>
    <p:extLst>
      <p:ext uri="{BB962C8B-B14F-4D97-AF65-F5344CB8AC3E}">
        <p14:creationId xmlns:p14="http://schemas.microsoft.com/office/powerpoint/2010/main" val="3323986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2D3EB-084B-E5C9-57D0-21B6344B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D4871-965F-5F43-3D0B-DFB5F1E0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Live Demo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5E8942-2524-E8C6-B049-94CF64E7EB00}"/>
              </a:ext>
            </a:extLst>
          </p:cNvPr>
          <p:cNvSpPr txBox="1"/>
          <p:nvPr/>
        </p:nvSpPr>
        <p:spPr>
          <a:xfrm>
            <a:off x="3047268" y="2013410"/>
            <a:ext cx="60974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Kermit Semibold Expanded" panose="020F0502020204030204" pitchFamily="34" charset="0"/>
                <a:hlinkClick r:id="rId2"/>
              </a:rPr>
              <a:t>Count My Fish App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12332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96CE-B6C8-4992-BC16-52E14E9B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C7402-C821-3147-ECA1-F7CCB670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Kermit Extrabold" panose="020F05030400000600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054CC-D108-9761-E4A1-DDFFFA5B4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bg1"/>
                </a:solidFill>
                <a:latin typeface="Kermit Semibold Expanded" panose="020F0502020204030204" pitchFamily="34" charset="0"/>
              </a:rPr>
              <a:t>Count My Fish transforms anglers into a distributed data network, supporting smarter fisheries management.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Real-time catch data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Better stock monitoring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Behavioral insights (bait, technique, timing)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Regional fishing patterns</a:t>
            </a:r>
          </a:p>
          <a:p>
            <a:r>
              <a:rPr lang="en-US" dirty="0">
                <a:solidFill>
                  <a:schemeClr val="bg1"/>
                </a:solidFill>
                <a:latin typeface="Arial Nova Cond" panose="020B0506020202020204" pitchFamily="34" charset="0"/>
              </a:rPr>
              <a:t>Predictive analytics potential</a:t>
            </a:r>
          </a:p>
        </p:txBody>
      </p:sp>
    </p:spTree>
    <p:extLst>
      <p:ext uri="{BB962C8B-B14F-4D97-AF65-F5344CB8AC3E}">
        <p14:creationId xmlns:p14="http://schemas.microsoft.com/office/powerpoint/2010/main" val="4021930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2052</TotalTime>
  <Words>301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Nova Cond</vt:lpstr>
      <vt:lpstr>Calibri</vt:lpstr>
      <vt:lpstr>Calibri Light</vt:lpstr>
      <vt:lpstr>Kermit Extrabold</vt:lpstr>
      <vt:lpstr>Kermit Semibold Expanded</vt:lpstr>
      <vt:lpstr>Wingdings</vt:lpstr>
      <vt:lpstr>Office Theme</vt:lpstr>
      <vt:lpstr>Count My Fish App</vt:lpstr>
      <vt:lpstr>The Problem</vt:lpstr>
      <vt:lpstr>The Opportunity</vt:lpstr>
      <vt:lpstr>The Solution</vt:lpstr>
      <vt:lpstr>Key Features</vt:lpstr>
      <vt:lpstr>Fishing Score</vt:lpstr>
      <vt:lpstr>Data Collected</vt:lpstr>
      <vt:lpstr>PowerPoint Presentation</vt:lpstr>
      <vt:lpstr>User Engagement Strategy</vt:lpstr>
      <vt:lpstr>Agency Value</vt:lpstr>
      <vt:lpstr>Limitations</vt:lpstr>
      <vt:lpstr>Future Improvements</vt:lpstr>
      <vt:lpstr>Live Demo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Rebecca Rickard</dc:creator>
  <cp:lastModifiedBy>Rebecca Rickard</cp:lastModifiedBy>
  <cp:revision>3</cp:revision>
  <dcterms:created xsi:type="dcterms:W3CDTF">2026-05-04T17:29:45Z</dcterms:created>
  <dcterms:modified xsi:type="dcterms:W3CDTF">2026-05-06T03:41:50Z</dcterms:modified>
</cp:coreProperties>
</file>